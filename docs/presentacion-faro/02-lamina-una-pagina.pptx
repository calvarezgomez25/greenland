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 BREVE (8 a 10 min en total; ver 01-guion-para-exponer.docx)
HILO PMO360 ↔ FARO: PMO360 es la plataforma; el 360 es la vuelta completa (visión integral, sin puntos ciegos). FARO es cómo se explica y se adopta: cuatro pasos, uno por cada cuarto de vuelta (4 × 90° = 360°). PMO360 es la luz; FARO es cómo la mantenemos encendida.
Apertura colegas: «Imaginen un barco, de noche, sin faro. No necesita una tormenta para chocar: le basta con no ver.» Apertura junta: abrir directo con tres preguntas: ¿cómo vamos?, ¿quién decide eso?, ¿de dónde salió ese número?
F · Fuente única (2 min): la historia de Abraham Wald y los aviones. El semáforo usa cuatro dimensiones y manda la peor; si falta información dice «Sin datos». Pregunta a la sala: ¿cuántas versiones de un mismo proyecto circulan hoy?
A · Alerta a tiempo (2 min): escena típica (no un caso real) del cambio que espera firma. Tablero «Requiere decisión», correo a quien decide, informe cada lunes 7:30 a. m. Pregunta: ¿cuántas decisiones esperan hoy a que alguien las vea?
R · Respaldo (2 min): escena típica de la reclamación sin soporte. Permisos por rol aplicados en la base de datos, registro de cambios, casi 800 pruebas automáticas. No es una certificación de seguridad.
O · Operación que escala (1,5 min): el Excel «final_v7». Base estándar, instalación en un archivo, límites documentados que sirven para 12 proyectos. Costo de operación aún por calcular.
Pedido (1,5 min): no se pide aprobar la plataforma, se piden 90 días con 3 a 4 de los 12 proyectos; criterios de éxito acordados antes de empezar.
Cierre: «Un faro no se evalúa por cuánto brilla, sino por los barcos que evita perder. Probémoslo.»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GreenL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737360" cy="528523"/>
          </a:xfrm>
          <a:prstGeom prst="rect">
            <a:avLst/>
          </a:prstGeom>
        </p:spPr>
      </p:pic>
      <p:sp>
        <p:nvSpPr>
          <p:cNvPr id="3" name="Marca"/>
          <p:cNvSpPr txBox="1"/>
          <p:nvPr/>
        </p:nvSpPr>
        <p:spPr>
          <a:xfrm>
            <a:off x="7589520" y="411480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PMO360 · Control integral de Proyectos</a:t>
            </a:r>
            <a:endParaRPr lang="en-US" sz="1200" dirty="0"/>
          </a:p>
        </p:txBody>
      </p:sp>
      <p:sp>
        <p:nvSpPr>
          <p:cNvPr id="4" name="Haz de luz"/>
          <p:cNvSpPr/>
          <p:nvPr/>
        </p:nvSpPr>
        <p:spPr>
          <a:xfrm>
            <a:off x="1417320" y="1252728"/>
            <a:ext cx="3840480" cy="566928"/>
          </a:xfrm>
          <a:prstGeom prst="rtTriangle">
            <a:avLst/>
          </a:prstGeom>
          <a:solidFill>
            <a:schemeClr val="accent3">
              <a:alpha val="18000"/>
            </a:schemeClr>
          </a:solidFill>
          <a:ln/>
        </p:spPr>
      </p:sp>
      <p:sp>
        <p:nvSpPr>
          <p:cNvPr id="5" name="Faro torre"/>
          <p:cNvSpPr/>
          <p:nvPr/>
        </p:nvSpPr>
        <p:spPr>
          <a:xfrm>
            <a:off x="566928" y="1627632"/>
            <a:ext cx="640080" cy="914400"/>
          </a:xfrm>
          <a:prstGeom prst="trapezoid">
            <a:avLst/>
          </a:prstGeom>
          <a:solidFill>
            <a:schemeClr val="accent1"/>
          </a:solidFill>
          <a:ln/>
        </p:spPr>
      </p:sp>
      <p:sp>
        <p:nvSpPr>
          <p:cNvPr id="6" name="Faro franja 1"/>
          <p:cNvSpPr/>
          <p:nvPr/>
        </p:nvSpPr>
        <p:spPr>
          <a:xfrm>
            <a:off x="731520" y="1828800"/>
            <a:ext cx="310896" cy="91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7" name="Faro franja 2"/>
          <p:cNvSpPr/>
          <p:nvPr/>
        </p:nvSpPr>
        <p:spPr>
          <a:xfrm>
            <a:off x="694944" y="2103120"/>
            <a:ext cx="384048" cy="914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8" name="Faro balcón"/>
          <p:cNvSpPr/>
          <p:nvPr/>
        </p:nvSpPr>
        <p:spPr>
          <a:xfrm>
            <a:off x="530352" y="1517904"/>
            <a:ext cx="713232" cy="1097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Faro lámpara"/>
          <p:cNvSpPr/>
          <p:nvPr/>
        </p:nvSpPr>
        <p:spPr>
          <a:xfrm>
            <a:off x="713232" y="1225296"/>
            <a:ext cx="347472" cy="2926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0" name="Título"/>
          <p:cNvSpPr txBox="1"/>
          <p:nvPr/>
        </p:nvSpPr>
        <p:spPr>
          <a:xfrm>
            <a:off x="1554480" y="109728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tx2"/>
                </a:solidFill>
              </a:rPr>
              <a:t>FARO</a:t>
            </a:r>
            <a:endParaRPr lang="en-US" sz="6600" dirty="0"/>
          </a:p>
        </p:txBody>
      </p:sp>
      <p:sp>
        <p:nvSpPr>
          <p:cNvPr id="11" name="Frase central"/>
          <p:cNvSpPr txBox="1"/>
          <p:nvPr/>
        </p:nvSpPr>
        <p:spPr>
          <a:xfrm>
            <a:off x="155448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Que ningún proyecto navegue a ciegas</a:t>
            </a:r>
            <a:endParaRPr lang="en-US" sz="2800" dirty="0"/>
          </a:p>
        </p:txBody>
      </p:sp>
      <p:sp>
        <p:nvSpPr>
          <p:cNvPr id="12" name="Subtítulo"/>
          <p:cNvSpPr txBox="1"/>
          <p:nvPr/>
        </p:nvSpPr>
        <p:spPr>
          <a:xfrm>
            <a:off x="1554480" y="25603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PMO360 es la luz que gira los 360°: </a:t>
            </a:r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cada paso ilumina un cuarto de vuelta</a:t>
            </a:r>
            <a:endParaRPr lang="en-US" sz="1600" dirty="0"/>
          </a:p>
        </p:txBody>
      </p:sp>
      <p:sp>
        <p:nvSpPr>
          <p:cNvPr id="13" name="Cuarto F"/>
          <p:cNvSpPr/>
          <p:nvPr/>
        </p:nvSpPr>
        <p:spPr>
          <a:xfrm>
            <a:off x="9875520" y="1005840"/>
            <a:ext cx="1828800" cy="1828800"/>
          </a:xfrm>
          <a:prstGeom prst="blockArc">
            <a:avLst>
              <a:gd name="adj1" fmla="val 16200000"/>
              <a:gd name="adj2" fmla="val 21600000"/>
              <a:gd name="adj3" fmla="val 21000"/>
            </a:avLst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Letra anillo F"/>
          <p:cNvSpPr txBox="1"/>
          <p:nvPr/>
        </p:nvSpPr>
        <p:spPr>
          <a:xfrm>
            <a:off x="11099549" y="120827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</a:t>
            </a:r>
            <a:endParaRPr lang="en-US" sz="2000" dirty="0"/>
          </a:p>
        </p:txBody>
      </p:sp>
      <p:sp>
        <p:nvSpPr>
          <p:cNvPr id="15" name="Cuarto A"/>
          <p:cNvSpPr/>
          <p:nvPr/>
        </p:nvSpPr>
        <p:spPr>
          <a:xfrm>
            <a:off x="9875520" y="1005840"/>
            <a:ext cx="1828800" cy="1828800"/>
          </a:xfrm>
          <a:prstGeom prst="blockArc">
            <a:avLst>
              <a:gd name="adj1" fmla="val 0"/>
              <a:gd name="adj2" fmla="val 5400000"/>
              <a:gd name="adj3" fmla="val 21000"/>
            </a:avLst>
          </a:prstGeom>
          <a:solidFill>
            <a:schemeClr val="accent6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6" name="Letra anillo A"/>
          <p:cNvSpPr txBox="1"/>
          <p:nvPr/>
        </p:nvSpPr>
        <p:spPr>
          <a:xfrm>
            <a:off x="11099549" y="222986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17" name="Cuarto R"/>
          <p:cNvSpPr/>
          <p:nvPr/>
        </p:nvSpPr>
        <p:spPr>
          <a:xfrm>
            <a:off x="9875520" y="1005840"/>
            <a:ext cx="1828800" cy="1828800"/>
          </a:xfrm>
          <a:prstGeom prst="blockArc">
            <a:avLst>
              <a:gd name="adj1" fmla="val 5400000"/>
              <a:gd name="adj2" fmla="val 10800000"/>
              <a:gd name="adj3" fmla="val 21000"/>
            </a:avLst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8" name="Letra anillo R"/>
          <p:cNvSpPr txBox="1"/>
          <p:nvPr/>
        </p:nvSpPr>
        <p:spPr>
          <a:xfrm>
            <a:off x="10077955" y="222986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</a:t>
            </a:r>
            <a:endParaRPr lang="en-US" sz="2000" dirty="0"/>
          </a:p>
        </p:txBody>
      </p:sp>
      <p:sp>
        <p:nvSpPr>
          <p:cNvPr id="19" name="Cuarto O"/>
          <p:cNvSpPr/>
          <p:nvPr/>
        </p:nvSpPr>
        <p:spPr>
          <a:xfrm>
            <a:off x="9875520" y="1005840"/>
            <a:ext cx="1828800" cy="1828800"/>
          </a:xfrm>
          <a:prstGeom prst="blockArc">
            <a:avLst>
              <a:gd name="adj1" fmla="val 10800000"/>
              <a:gd name="adj2" fmla="val 16200000"/>
              <a:gd name="adj3" fmla="val 21000"/>
            </a:avLst>
          </a:prstGeom>
          <a:solidFill>
            <a:schemeClr val="accent6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Letra anillo O"/>
          <p:cNvSpPr txBox="1"/>
          <p:nvPr/>
        </p:nvSpPr>
        <p:spPr>
          <a:xfrm>
            <a:off x="10077955" y="120827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</a:t>
            </a:r>
            <a:endParaRPr lang="en-US" sz="2000" dirty="0"/>
          </a:p>
        </p:txBody>
      </p:sp>
      <p:sp>
        <p:nvSpPr>
          <p:cNvPr id="21" name="Centro PMO360"/>
          <p:cNvSpPr txBox="1"/>
          <p:nvPr/>
        </p:nvSpPr>
        <p:spPr>
          <a:xfrm>
            <a:off x="1033272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PMO</a:t>
            </a:r>
            <a:endParaRPr lang="en-US" sz="18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360</a:t>
            </a:r>
            <a:endParaRPr lang="en-US" sz="1800" dirty="0"/>
          </a:p>
        </p:txBody>
      </p:sp>
      <p:sp>
        <p:nvSpPr>
          <p:cNvPr id="22" name="Tarjeta F"/>
          <p:cNvSpPr/>
          <p:nvPr/>
        </p:nvSpPr>
        <p:spPr>
          <a:xfrm>
            <a:off x="457200" y="3108960"/>
            <a:ext cx="2681478" cy="2697480"/>
          </a:xfrm>
          <a:prstGeom prst="roundRect">
            <a:avLst>
              <a:gd name="adj" fmla="val 6138"/>
            </a:avLst>
          </a:prstGeom>
          <a:solidFill>
            <a:schemeClr val="bg2"/>
          </a:solidFill>
          <a:ln/>
        </p:spPr>
      </p:sp>
      <p:sp>
        <p:nvSpPr>
          <p:cNvPr id="23" name="Círculo F"/>
          <p:cNvSpPr/>
          <p:nvPr/>
        </p:nvSpPr>
        <p:spPr>
          <a:xfrm>
            <a:off x="621792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Letra F"/>
          <p:cNvSpPr txBox="1"/>
          <p:nvPr/>
        </p:nvSpPr>
        <p:spPr>
          <a:xfrm>
            <a:off x="621792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F</a:t>
            </a:r>
            <a:endParaRPr lang="en-US" sz="2600" dirty="0"/>
          </a:p>
        </p:txBody>
      </p:sp>
      <p:sp>
        <p:nvSpPr>
          <p:cNvPr id="25" name="Paso F"/>
          <p:cNvSpPr txBox="1"/>
          <p:nvPr/>
        </p:nvSpPr>
        <p:spPr>
          <a:xfrm>
            <a:off x="1298448" y="3218688"/>
            <a:ext cx="17670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Fuente única</a:t>
            </a:r>
            <a:endParaRPr lang="en-US" sz="1500" dirty="0"/>
          </a:p>
        </p:txBody>
      </p:sp>
      <p:sp>
        <p:nvSpPr>
          <p:cNvPr id="26" name="Imagen F"/>
          <p:cNvSpPr txBox="1"/>
          <p:nvPr/>
        </p:nvSpPr>
        <p:spPr>
          <a:xfrm>
            <a:off x="1298448" y="3566160"/>
            <a:ext cx="17670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Ver con claridad</a:t>
            </a:r>
            <a:endParaRPr lang="en-US" sz="1100" dirty="0"/>
          </a:p>
        </p:txBody>
      </p:sp>
      <p:sp>
        <p:nvSpPr>
          <p:cNvPr id="27" name="Problema F"/>
          <p:cNvSpPr txBox="1"/>
          <p:nvPr/>
        </p:nvSpPr>
        <p:spPr>
          <a:xfrm>
            <a:off x="621792" y="4041648"/>
            <a:ext cx="23522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Cada proyecto cuenta su propia versión</a:t>
            </a:r>
            <a:endParaRPr lang="en-US" sz="1400" dirty="0"/>
          </a:p>
        </p:txBody>
      </p:sp>
      <p:sp>
        <p:nvSpPr>
          <p:cNvPr id="28" name="Evidencia F"/>
          <p:cNvSpPr txBox="1"/>
          <p:nvPr/>
        </p:nvSpPr>
        <p:spPr>
          <a:xfrm>
            <a:off x="621792" y="4663440"/>
            <a:ext cx="23522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Semáforo con 4 dimensiones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«Sin datos», no un verde sin verificar</a:t>
            </a:r>
            <a:endParaRPr lang="en-US" sz="1400" dirty="0"/>
          </a:p>
        </p:txBody>
      </p:sp>
      <p:sp>
        <p:nvSpPr>
          <p:cNvPr id="29" name="Tarjeta A"/>
          <p:cNvSpPr/>
          <p:nvPr/>
        </p:nvSpPr>
        <p:spPr>
          <a:xfrm>
            <a:off x="3321558" y="3108960"/>
            <a:ext cx="2681478" cy="2697480"/>
          </a:xfrm>
          <a:prstGeom prst="roundRect">
            <a:avLst>
              <a:gd name="adj" fmla="val 6138"/>
            </a:avLst>
          </a:prstGeom>
          <a:solidFill>
            <a:schemeClr val="bg2"/>
          </a:solidFill>
          <a:ln/>
        </p:spPr>
      </p:sp>
      <p:sp>
        <p:nvSpPr>
          <p:cNvPr id="30" name="Círculo A"/>
          <p:cNvSpPr/>
          <p:nvPr/>
        </p:nvSpPr>
        <p:spPr>
          <a:xfrm>
            <a:off x="348615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Letra A"/>
          <p:cNvSpPr txBox="1"/>
          <p:nvPr/>
        </p:nvSpPr>
        <p:spPr>
          <a:xfrm>
            <a:off x="3486150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A</a:t>
            </a:r>
            <a:endParaRPr lang="en-US" sz="2600" dirty="0"/>
          </a:p>
        </p:txBody>
      </p:sp>
      <p:sp>
        <p:nvSpPr>
          <p:cNvPr id="32" name="Paso A"/>
          <p:cNvSpPr txBox="1"/>
          <p:nvPr/>
        </p:nvSpPr>
        <p:spPr>
          <a:xfrm>
            <a:off x="4162806" y="3218688"/>
            <a:ext cx="17670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Alerta a tiempo</a:t>
            </a:r>
            <a:endParaRPr lang="en-US" sz="1500" dirty="0"/>
          </a:p>
        </p:txBody>
      </p:sp>
      <p:sp>
        <p:nvSpPr>
          <p:cNvPr id="33" name="Imagen A"/>
          <p:cNvSpPr txBox="1"/>
          <p:nvPr/>
        </p:nvSpPr>
        <p:spPr>
          <a:xfrm>
            <a:off x="4162806" y="3566160"/>
            <a:ext cx="17670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Avisar antes de la roca</a:t>
            </a:r>
            <a:endParaRPr lang="en-US" sz="1100" dirty="0"/>
          </a:p>
        </p:txBody>
      </p:sp>
      <p:sp>
        <p:nvSpPr>
          <p:cNvPr id="34" name="Problema A"/>
          <p:cNvSpPr txBox="1"/>
          <p:nvPr/>
        </p:nvSpPr>
        <p:spPr>
          <a:xfrm>
            <a:off x="3486150" y="4041648"/>
            <a:ext cx="23522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Las decisiones se enteran tarde</a:t>
            </a:r>
            <a:endParaRPr lang="en-US" sz="1400" dirty="0"/>
          </a:p>
        </p:txBody>
      </p:sp>
      <p:sp>
        <p:nvSpPr>
          <p:cNvPr id="35" name="Evidencia A"/>
          <p:cNvSpPr txBox="1"/>
          <p:nvPr/>
        </p:nvSpPr>
        <p:spPr>
          <a:xfrm>
            <a:off x="3486150" y="4663440"/>
            <a:ext cx="23522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Tablero «Requiere decisión»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Correo a quien decide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Informe cada lunes</a:t>
            </a:r>
            <a:endParaRPr lang="en-US" sz="1400" dirty="0"/>
          </a:p>
        </p:txBody>
      </p:sp>
      <p:sp>
        <p:nvSpPr>
          <p:cNvPr id="36" name="Tarjeta R"/>
          <p:cNvSpPr/>
          <p:nvPr/>
        </p:nvSpPr>
        <p:spPr>
          <a:xfrm>
            <a:off x="6185916" y="3108960"/>
            <a:ext cx="2681478" cy="2697480"/>
          </a:xfrm>
          <a:prstGeom prst="roundRect">
            <a:avLst>
              <a:gd name="adj" fmla="val 6138"/>
            </a:avLst>
          </a:prstGeom>
          <a:solidFill>
            <a:schemeClr val="bg2"/>
          </a:solidFill>
          <a:ln/>
        </p:spPr>
      </p:sp>
      <p:sp>
        <p:nvSpPr>
          <p:cNvPr id="37" name="Círculo R"/>
          <p:cNvSpPr/>
          <p:nvPr/>
        </p:nvSpPr>
        <p:spPr>
          <a:xfrm>
            <a:off x="6350508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8" name="Letra R"/>
          <p:cNvSpPr txBox="1"/>
          <p:nvPr/>
        </p:nvSpPr>
        <p:spPr>
          <a:xfrm>
            <a:off x="6350508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R</a:t>
            </a:r>
            <a:endParaRPr lang="en-US" sz="2600" dirty="0"/>
          </a:p>
        </p:txBody>
      </p:sp>
      <p:sp>
        <p:nvSpPr>
          <p:cNvPr id="39" name="Paso R"/>
          <p:cNvSpPr txBox="1"/>
          <p:nvPr/>
        </p:nvSpPr>
        <p:spPr>
          <a:xfrm>
            <a:off x="7027164" y="3218688"/>
            <a:ext cx="17670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Respaldo</a:t>
            </a:r>
            <a:endParaRPr lang="en-US" sz="1500" dirty="0"/>
          </a:p>
        </p:txBody>
      </p:sp>
      <p:sp>
        <p:nvSpPr>
          <p:cNvPr id="40" name="Imagen R"/>
          <p:cNvSpPr txBox="1"/>
          <p:nvPr/>
        </p:nvSpPr>
        <p:spPr>
          <a:xfrm>
            <a:off x="7027164" y="3566160"/>
            <a:ext cx="17670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Que el dato resista la tormenta</a:t>
            </a:r>
            <a:endParaRPr lang="en-US" sz="1100" dirty="0"/>
          </a:p>
        </p:txBody>
      </p:sp>
      <p:sp>
        <p:nvSpPr>
          <p:cNvPr id="41" name="Problema R"/>
          <p:cNvSpPr txBox="1"/>
          <p:nvPr/>
        </p:nvSpPr>
        <p:spPr>
          <a:xfrm>
            <a:off x="6350508" y="4041648"/>
            <a:ext cx="23522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 dato sin historial no se defiende</a:t>
            </a:r>
            <a:endParaRPr lang="en-US" sz="1400" dirty="0"/>
          </a:p>
        </p:txBody>
      </p:sp>
      <p:sp>
        <p:nvSpPr>
          <p:cNvPr id="42" name="Evidencia R"/>
          <p:cNvSpPr txBox="1"/>
          <p:nvPr/>
        </p:nvSpPr>
        <p:spPr>
          <a:xfrm>
            <a:off x="6350508" y="4663440"/>
            <a:ext cx="23522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Permisos por rol en la base de datos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Registro de cambios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Casi 800 pruebas</a:t>
            </a:r>
            <a:endParaRPr lang="en-US" sz="1400" dirty="0"/>
          </a:p>
        </p:txBody>
      </p:sp>
      <p:sp>
        <p:nvSpPr>
          <p:cNvPr id="43" name="Tarjeta O"/>
          <p:cNvSpPr/>
          <p:nvPr/>
        </p:nvSpPr>
        <p:spPr>
          <a:xfrm>
            <a:off x="9050274" y="3108960"/>
            <a:ext cx="2681478" cy="2697480"/>
          </a:xfrm>
          <a:prstGeom prst="roundRect">
            <a:avLst>
              <a:gd name="adj" fmla="val 6138"/>
            </a:avLst>
          </a:prstGeom>
          <a:solidFill>
            <a:schemeClr val="bg2"/>
          </a:solidFill>
          <a:ln/>
        </p:spPr>
      </p:sp>
      <p:sp>
        <p:nvSpPr>
          <p:cNvPr id="44" name="Círculo O"/>
          <p:cNvSpPr/>
          <p:nvPr/>
        </p:nvSpPr>
        <p:spPr>
          <a:xfrm>
            <a:off x="9214866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5" name="Letra O"/>
          <p:cNvSpPr txBox="1"/>
          <p:nvPr/>
        </p:nvSpPr>
        <p:spPr>
          <a:xfrm>
            <a:off x="9214866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O</a:t>
            </a:r>
            <a:endParaRPr lang="en-US" sz="2600" dirty="0"/>
          </a:p>
        </p:txBody>
      </p:sp>
      <p:sp>
        <p:nvSpPr>
          <p:cNvPr id="46" name="Paso O"/>
          <p:cNvSpPr txBox="1"/>
          <p:nvPr/>
        </p:nvSpPr>
        <p:spPr>
          <a:xfrm>
            <a:off x="9891522" y="3218688"/>
            <a:ext cx="17670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Operación que escala</a:t>
            </a:r>
            <a:endParaRPr lang="en-US" sz="1500" dirty="0"/>
          </a:p>
        </p:txBody>
      </p:sp>
      <p:sp>
        <p:nvSpPr>
          <p:cNvPr id="47" name="Imagen O"/>
          <p:cNvSpPr txBox="1"/>
          <p:nvPr/>
        </p:nvSpPr>
        <p:spPr>
          <a:xfrm>
            <a:off x="9891522" y="3566160"/>
            <a:ext cx="17670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Mantener la luz encendida</a:t>
            </a:r>
            <a:endParaRPr lang="en-US" sz="1100" dirty="0"/>
          </a:p>
        </p:txBody>
      </p:sp>
      <p:sp>
        <p:nvSpPr>
          <p:cNvPr id="48" name="Problema O"/>
          <p:cNvSpPr txBox="1"/>
          <p:nvPr/>
        </p:nvSpPr>
        <p:spPr>
          <a:xfrm>
            <a:off x="9214866" y="4041648"/>
            <a:ext cx="23522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Todo depende de una persona o de un Excel</a:t>
            </a:r>
            <a:endParaRPr lang="en-US" sz="1400" dirty="0"/>
          </a:p>
        </p:txBody>
      </p:sp>
      <p:sp>
        <p:nvSpPr>
          <p:cNvPr id="49" name="Evidencia O"/>
          <p:cNvSpPr txBox="1"/>
          <p:nvPr/>
        </p:nvSpPr>
        <p:spPr>
          <a:xfrm>
            <a:off x="9214866" y="4663440"/>
            <a:ext cx="235229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Base de datos estándar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Instalación en un archivo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accent5"/>
                </a:solidFill>
              </a:rPr>
              <a:t>Límites documentados</a:t>
            </a:r>
            <a:endParaRPr lang="en-US" sz="1400" dirty="0"/>
          </a:p>
        </p:txBody>
      </p:sp>
      <p:sp>
        <p:nvSpPr>
          <p:cNvPr id="50" name="Caja pedido"/>
          <p:cNvSpPr/>
          <p:nvPr/>
        </p:nvSpPr>
        <p:spPr>
          <a:xfrm>
            <a:off x="457200" y="5943600"/>
            <a:ext cx="5577840" cy="713232"/>
          </a:xfrm>
          <a:prstGeom prst="roundRect">
            <a:avLst>
              <a:gd name="adj" fmla="val 17949"/>
            </a:avLst>
          </a:prstGeom>
          <a:solidFill>
            <a:schemeClr val="accent1"/>
          </a:solidFill>
          <a:ln/>
        </p:spPr>
      </p:sp>
      <p:sp>
        <p:nvSpPr>
          <p:cNvPr id="51" name="Texto pedido"/>
          <p:cNvSpPr txBox="1"/>
          <p:nvPr/>
        </p:nvSpPr>
        <p:spPr>
          <a:xfrm>
            <a:off x="640080" y="5943600"/>
            <a:ext cx="5303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LO QUE PEDIMOS</a:t>
            </a:r>
            <a:endParaRPr lang="en-US" sz="10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Piloto de 90 días · 3 a 4 de los 12 proyectos</a:t>
            </a:r>
            <a:endParaRPr lang="en-US" sz="1000" dirty="0"/>
          </a:p>
        </p:txBody>
      </p:sp>
      <p:sp>
        <p:nvSpPr>
          <p:cNvPr id="52" name="Caja declaración"/>
          <p:cNvSpPr/>
          <p:nvPr/>
        </p:nvSpPr>
        <p:spPr>
          <a:xfrm>
            <a:off x="6217920" y="5943600"/>
            <a:ext cx="5513832" cy="713232"/>
          </a:xfrm>
          <a:prstGeom prst="roundRect">
            <a:avLst>
              <a:gd name="adj" fmla="val 17949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53" name="Texto declaración"/>
          <p:cNvSpPr txBox="1"/>
          <p:nvPr/>
        </p:nvSpPr>
        <p:spPr>
          <a:xfrm>
            <a:off x="6400800" y="594360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LO QUE DECLARAMOS DE FRENTE</a:t>
            </a:r>
            <a:endParaRPr lang="en-US" sz="10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Solo datos ficticios hasta hoy · sin línea base de ahorro · costo por calcular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Land PMO360">
  <a:themeElements>
    <a:clrScheme name="GreenLand PMO360">
      <a:dk1>
        <a:srgbClr val="164504"/>
      </a:dk1>
      <a:lt1>
        <a:srgbClr val="FFFFFF"/>
      </a:lt1>
      <a:dk2>
        <a:srgbClr val="386631"/>
      </a:dk2>
      <a:lt2>
        <a:srgbClr val="E6F1D1"/>
      </a:lt2>
      <a:accent1>
        <a:srgbClr val="4C700B"/>
      </a:accent1>
      <a:accent2>
        <a:srgbClr val="7C401D"/>
      </a:accent2>
      <a:accent3>
        <a:srgbClr val="F59E0B"/>
      </a:accent3>
      <a:accent4>
        <a:srgbClr val="CFE3A8"/>
      </a:accent4>
      <a:accent5>
        <a:srgbClr val="555552"/>
      </a:accent5>
      <a:accent6>
        <a:srgbClr val="5D870E"/>
      </a:accent6>
      <a:hlink>
        <a:srgbClr val="4C700B"/>
      </a:hlink>
      <a:folHlink>
        <a:srgbClr val="7C401D"/>
      </a:folHlink>
    </a:clrScheme>
    <a:fontScheme name="GreenLand PMO360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FARO - Que ningún proyecto navegue a ciegas</dc:title>
  <dc:subject>PptxGenJS Presentation</dc:subject>
  <dc:creator>GreenLand · PMO360</dc:creator>
  <cp:lastModifiedBy>GreenLand · PMO360</cp:lastModifiedBy>
  <cp:revision>1</cp:revision>
  <dcterms:created xsi:type="dcterms:W3CDTF">2026-10-11T19:14:38Z</dcterms:created>
  <dcterms:modified xsi:type="dcterms:W3CDTF">2026-10-11T19:14:38Z</dcterms:modified>
</cp:coreProperties>
</file>